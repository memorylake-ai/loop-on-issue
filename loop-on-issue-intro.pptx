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1fcd936978a64c90" /><Relationship Type="http://schemas.openxmlformats.org/package/2006/relationships/metadata/core-properties" Target="/docProps/core.xml" Id="R086fbfdad0364e82" /><Relationship Type="http://schemas.openxmlformats.org/officeDocument/2006/relationships/extended-properties" Target="/docProps/app.xml" Id="Ree7ba6a7090e4a86" /><Relationship Type="http://schemas.openxmlformats.org/officeDocument/2006/relationships/custom-properties" Target="/docProps/custom.xml" Id="Racbc217c1ede4546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30c165fbf9c54579"/>
  </p:notesMasterIdLst>
  <p:sldIdLst>
    <p:sldId id="256" r:id="R99d8f3ddc0a943f5"/>
    <p:sldId id="257" r:id="R1b8c422f6efc439f"/>
    <p:sldId id="258" r:id="Rddeaacc0c7a643a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9d8f3ddc0a943f5" /><Relationship Type="http://schemas.openxmlformats.org/officeDocument/2006/relationships/notesMaster" Target="/ppt/notesMasters/notesMaster1.xml" Id="R30c165fbf9c54579" /><Relationship Type="http://schemas.openxmlformats.org/officeDocument/2006/relationships/slide" Target="/ppt/slides/slide2.xml" Id="R1b8c422f6efc439f" /><Relationship Type="http://schemas.openxmlformats.org/officeDocument/2006/relationships/slide" Target="/ppt/slides/slide3.xml" Id="Rddeaacc0c7a643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f2ac35d4f4e4f57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869f35064174a15" /><Relationship Type="http://schemas.openxmlformats.org/officeDocument/2006/relationships/slide" Target="/ppt/slides/slide1.xml" Id="Reb94ad25a17b4cf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0f8711726af49ea" /><Relationship Type="http://schemas.openxmlformats.org/officeDocument/2006/relationships/slide" Target="/ppt/slides/slide2.xml" Id="Rf42ab5dd09e540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9a8b8104ae94461" /><Relationship Type="http://schemas.openxmlformats.org/officeDocument/2006/relationships/slide" Target="/ppt/slides/slide3.xml" Id="Rb095f106d4e94e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一句话定位：把 issue 队列变成无人值守的开发流水线。强调它同时支持 GitHub 和 GitLab，同一套插件在 Claude Code 和 Codex 上都能装，核心不需要装任何 pip 包。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讲状态机：队列里没有前缀的 issue 才是可开工的；agent 认领后立刻改标题，所以人在 issue 列表、通知邮件、看板卡片上都能看到它在哪一步。人也可以手改前缀把 agent 拉回来。[FINISHED] 之后一定交回人类——agent 从不合并、也从不关闭 issue。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Codex 侧用同名的 codex plugin marketplace add / codex plugin add，五个技能同样在 Codex 里按同样的说法触发，只是没有斜杠命令。init 只会创建队列标签这一个标签，也从不替你跑 auth login。两个必填值：assignee 决定这是谁的队列，verify_command 是这个仓库真正的测试命令——不填，会话会自己编一个看起来合理的命令，然后报告一次什么都没测的绿灯。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5f3e4dd211420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0d64663737405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aab71970064db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796256f2bd476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e73d8cd444d3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8dee1e0b9c1b4f1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199abb36f34896" /><Relationship Type="http://schemas.openxmlformats.org/officeDocument/2006/relationships/notesSlide" Target="/ppt/notesSlides/notesSlide1.xml" Id="R92f0f9684f104d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b97fdcaa14394" /><Relationship Type="http://schemas.openxmlformats.org/officeDocument/2006/relationships/notesSlide" Target="/ppt/notesSlides/notesSlide2.xml" Id="Ra836db2b924c4d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b095edde34dcd" /><Relationship Type="http://schemas.openxmlformats.org/officeDocument/2006/relationships/notesSlide" Target="/ppt/notesSlides/notesSlide3.xml" Id="Re552ca46b4a04bc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B2239"/>
            </a:gs>
            <a:gs pos="100000">
              <a:srgbClr val="133F63"/>
            </a:gs>
          </a:gsLst>
          <a:lin ang="10800000" scaled="1"/>
        </a:gradFill>
      </p:bgPr>
    </p:bg>
    <p:spTree>
      <p:nvGrpSpPr>
        <p:cNvPr id="1" name=""/>
        <p:cNvGrpSpPr/>
        <p:nvPr/>
      </p:nvGrpSpPr>
      <p:grpSpPr/>
      <p:sp>
        <p:nvSpPr>
          <p:cNvPr id="100000" name="Band"/>
          <p:cNvSpPr/>
          <p:nvPr/>
        </p:nvSpPr>
        <p:spPr>
          <a:xfrm xmlns:a="http://schemas.openxmlformats.org/drawingml/2006/main">
            <a:off x="0" y="0"/>
            <a:ext cx="19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1" name="Eyebrow"/>
          <p:cNvSpPr txBox="1"/>
          <p:nvPr/>
        </p:nvSpPr>
        <p:spPr>
          <a:xfrm xmlns:a="http://schemas.openxmlformats.org/drawingml/2006/main">
            <a:off x="936000" y="1476000"/>
            <a:ext cx="792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02C39A"/>
                </a:solidFill>
                <a:latin typeface="Consolas"/>
                <a:ea typeface="Microsoft YaHei"/>
              </a:rPr>
              <a:t>Claude Code / Codex 插件</a:t>
            </a:r>
          </a:p>
        </p:txBody>
      </p:sp>
      <p:sp>
        <p:nvSpPr>
          <p:cNvPr id="100002" name="Title"/>
          <p:cNvSpPr txBox="1"/>
          <p:nvPr/>
        </p:nvSpPr>
        <p:spPr>
          <a:xfrm xmlns:a="http://schemas.openxmlformats.org/drawingml/2006/main">
            <a:off x="936000" y="1872000"/>
            <a:ext cx="9360000" cy="12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5400" b="1">
                <a:solidFill>
                  <a:srgbClr val="FFFFFF"/>
                </a:solidFill>
                <a:latin typeface="Consolas"/>
                <a:ea typeface="Microsoft YaHei"/>
              </a:rPr>
              <a:t>loop-on-issue</a:t>
            </a:r>
          </a:p>
        </p:txBody>
      </p:sp>
      <p:sp>
        <p:nvSpPr>
          <p:cNvPr id="100003" name="Sub"/>
          <p:cNvSpPr txBox="1"/>
          <p:nvPr/>
        </p:nvSpPr>
        <p:spPr>
          <a:xfrm xmlns:a="http://schemas.openxmlformats.org/drawingml/2006/main">
            <a:off x="936000" y="3204000"/>
            <a:ext cx="9720000" cy="68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600">
                <a:solidFill>
                  <a:srgbClr val="FFFFFF"/>
                </a:solidFill>
                <a:latin typeface="Calibri"/>
                <a:ea typeface="Microsoft YaHei"/>
              </a:rPr>
              <a:t>无人值守的 issue → 变更请求流水线</a:t>
            </a:r>
          </a:p>
        </p:txBody>
      </p:sp>
      <p:sp>
        <p:nvSpPr>
          <p:cNvPr id="100004" name="Strap"/>
          <p:cNvSpPr txBox="1"/>
          <p:nvPr/>
        </p:nvSpPr>
        <p:spPr>
          <a:xfrm xmlns:a="http://schemas.openxmlformats.org/drawingml/2006/main">
            <a:off x="936000" y="3996000"/>
            <a:ext cx="10080000" cy="93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9DCE8"/>
                </a:solidFill>
                <a:latin typeface="Calibri"/>
                <a:ea typeface="Microsoft YaHei"/>
              </a:rPr>
              <a:t>在 GitHub 或 GitLab 上给 issue 打个队列标签，agent 自己认领、在独立 worktree 里开发、</a:t>
            </a:r>
          </a:p>
          <a:p xmlns:a="http://schemas.openxmlformats.org/drawingml/2006/main">
            <a:r>
              <a:rPr lang="en-US" sz="1800">
                <a:solidFill>
                  <a:srgbClr val="C9DCE8"/>
                </a:solidFill>
                <a:latin typeface="Calibri"/>
                <a:ea typeface="Microsoft YaHei"/>
              </a:rPr>
              <a:t>跑完这个仓库真正的测试再提交 PR / MR，每一次状态变化都写回看板。</a:t>
            </a:r>
          </a:p>
        </p:txBody>
      </p:sp>
      <p:sp>
        <p:nvSpPr>
          <p:cNvPr id="100005" name="Chip1"/>
          <p:cNvSpPr/>
          <p:nvPr/>
        </p:nvSpPr>
        <p:spPr>
          <a:xfrm xmlns:a="http://schemas.openxmlformats.org/drawingml/2006/main">
            <a:off x="936000" y="5220000"/>
            <a:ext cx="29520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4F"/>
          </a:solidFill>
          <a:ln xmlns:a="http://schemas.openxmlformats.org/drawingml/2006/main">
            <a:solidFill>
              <a:srgbClr val="1C729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C9DCE8"/>
                </a:solidFill>
                <a:latin typeface="Consolas"/>
                <a:ea typeface="Microsoft YaHei"/>
              </a:rPr>
              <a:t>GitHub · GitLab 双平台</a:t>
            </a:r>
          </a:p>
        </p:txBody>
      </p:sp>
      <p:sp>
        <p:nvSpPr>
          <p:cNvPr id="100006" name="Chip2"/>
          <p:cNvSpPr/>
          <p:nvPr/>
        </p:nvSpPr>
        <p:spPr>
          <a:xfrm xmlns:a="http://schemas.openxmlformats.org/drawingml/2006/main">
            <a:off x="4176000" y="5220000"/>
            <a:ext cx="29520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4F"/>
          </a:solidFill>
          <a:ln xmlns:a="http://schemas.openxmlformats.org/drawingml/2006/main">
            <a:solidFill>
              <a:srgbClr val="1C729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C9DCE8"/>
                </a:solidFill>
                <a:latin typeface="Consolas"/>
                <a:ea typeface="Microsoft YaHei"/>
              </a:rPr>
              <a:t>claude · codex 双 runner</a:t>
            </a:r>
          </a:p>
        </p:txBody>
      </p:sp>
      <p:sp>
        <p:nvSpPr>
          <p:cNvPr id="100007" name="Chip3"/>
          <p:cNvSpPr/>
          <p:nvPr/>
        </p:nvSpPr>
        <p:spPr>
          <a:xfrm xmlns:a="http://schemas.openxmlformats.org/drawingml/2006/main">
            <a:off x="7416000" y="5220000"/>
            <a:ext cx="2952000" cy="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2344F"/>
          </a:solidFill>
          <a:ln xmlns:a="http://schemas.openxmlformats.org/drawingml/2006/main">
            <a:solidFill>
              <a:srgbClr val="1C7293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600" b="1">
                <a:solidFill>
                  <a:srgbClr val="C9DCE8"/>
                </a:solidFill>
                <a:latin typeface="Consolas"/>
                <a:ea typeface="Microsoft YaHei"/>
              </a:rPr>
              <a:t>核心零 pip 依赖</a:t>
            </a:r>
          </a:p>
        </p:txBody>
      </p:sp>
      <p:sp>
        <p:nvSpPr>
          <p:cNvPr id="100008" name="Foot"/>
          <p:cNvSpPr txBox="1"/>
          <p:nvPr/>
        </p:nvSpPr>
        <p:spPr>
          <a:xfrm xmlns:a="http://schemas.openxmlformats.org/drawingml/2006/main">
            <a:off x="936000" y="6156000"/>
            <a:ext cx="8640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B8FAA"/>
                </a:solidFill>
                <a:latin typeface="Consolas"/>
                <a:ea typeface="Microsoft YaHei"/>
              </a:rPr>
              <a:t>memorylake-ai/loop-on-issue  ·  MIT  ·  2026-08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57" name="Band2"/>
          <p:cNvSpPr/>
          <p:nvPr/>
        </p:nvSpPr>
        <p:spPr>
          <a:xfrm xmlns:a="http://schemas.openxmlformats.org/drawingml/2006/main">
            <a:off x="792000" y="5292000"/>
            <a:ext cx="10861200" cy="9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Title"/>
          <p:cNvSpPr txBox="1"/>
          <p:nvPr/>
        </p:nvSpPr>
        <p:spPr>
          <a:xfrm xmlns:a="http://schemas.openxmlformats.org/drawingml/2006/main">
            <a:off x="792000" y="504000"/>
            <a:ext cx="1044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E3A5C"/>
                </a:solidFill>
                <a:latin typeface="Consolas"/>
                <a:ea typeface="Microsoft YaHei"/>
              </a:rPr>
              <a:t>一个 issue 的无人值守闭环</a:t>
            </a:r>
          </a:p>
        </p:txBody>
      </p:sp>
      <p:sp>
        <p:nvSpPr>
          <p:cNvPr id="100011" name="Sub"/>
          <p:cNvSpPr txBox="1"/>
          <p:nvPr/>
        </p:nvSpPr>
        <p:spPr>
          <a:xfrm xmlns:a="http://schemas.openxmlformats.org/drawingml/2006/main">
            <a:off x="792000" y="1296000"/>
            <a:ext cx="1062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E6E88"/>
                </a:solidFill>
                <a:latin typeface="Calibri"/>
                <a:ea typeface="Microsoft YaHei"/>
              </a:rPr>
              <a:t>两个平台只有 open / closed，所以状态写在 issue 标题前缀上，人和 agent 读同一份。</a:t>
            </a:r>
          </a:p>
        </p:txBody>
      </p:sp>
      <p:sp>
        <p:nvSpPr>
          <p:cNvPr id="100012" name="B1"/>
          <p:cNvSpPr/>
          <p:nvPr/>
        </p:nvSpPr>
        <p:spPr>
          <a:xfrm xmlns:a="http://schemas.openxmlformats.org/drawingml/2006/main">
            <a:off x="792000" y="2124000"/>
            <a:ext cx="1826640" cy="10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>
            <a:solidFill>
              <a:srgbClr val="CBD9E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3" name="TextBox 5"/>
          <p:cNvSpPr txBox="1"/>
          <p:nvPr/>
        </p:nvSpPr>
        <p:spPr>
          <a:xfrm xmlns:a="http://schemas.openxmlformats.org/drawingml/2006/main">
            <a:off x="792000" y="2268000"/>
            <a:ext cx="182664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E3A5C"/>
                </a:solidFill>
                <a:latin typeface="Consolas"/>
                <a:ea typeface="Microsoft YaHei"/>
              </a:rPr>
              <a:t>无前缀</a:t>
            </a:r>
          </a:p>
        </p:txBody>
      </p:sp>
      <p:sp>
        <p:nvSpPr>
          <p:cNvPr id="100014" name="TextBox 6"/>
          <p:cNvSpPr txBox="1"/>
          <p:nvPr/>
        </p:nvSpPr>
        <p:spPr>
          <a:xfrm xmlns:a="http://schemas.openxmlformats.org/drawingml/2006/main">
            <a:off x="792000" y="2682000"/>
            <a:ext cx="182664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4E6E88"/>
                </a:solidFill>
                <a:latin typeface="Calibri"/>
                <a:ea typeface="Microsoft YaHei"/>
              </a:rPr>
              <a:t>打上 loop 标签</a:t>
            </a:r>
          </a:p>
        </p:txBody>
      </p:sp>
      <p:sp>
        <p:nvSpPr>
          <p:cNvPr id="100015" name="B2"/>
          <p:cNvSpPr/>
          <p:nvPr/>
        </p:nvSpPr>
        <p:spPr>
          <a:xfrm xmlns:a="http://schemas.openxmlformats.org/drawingml/2006/main">
            <a:off x="3050640" y="2124000"/>
            <a:ext cx="1826640" cy="10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C729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6" name="TextBox 8"/>
          <p:cNvSpPr txBox="1"/>
          <p:nvPr/>
        </p:nvSpPr>
        <p:spPr>
          <a:xfrm xmlns:a="http://schemas.openxmlformats.org/drawingml/2006/main">
            <a:off x="3050640" y="2268000"/>
            <a:ext cx="182664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onsolas"/>
                <a:ea typeface="Microsoft YaHei"/>
              </a:rPr>
              <a:t>[CLAIMED]</a:t>
            </a:r>
          </a:p>
        </p:txBody>
      </p:sp>
      <p:sp>
        <p:nvSpPr>
          <p:cNvPr id="100017" name="TextBox 9"/>
          <p:cNvSpPr txBox="1"/>
          <p:nvPr/>
        </p:nvSpPr>
        <p:spPr>
          <a:xfrm xmlns:a="http://schemas.openxmlformats.org/drawingml/2006/main">
            <a:off x="3050640" y="2682000"/>
            <a:ext cx="182664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D8E7EF"/>
                </a:solidFill>
                <a:latin typeface="Calibri"/>
                <a:ea typeface="Microsoft YaHei"/>
              </a:rPr>
              <a:t>agent 已认领</a:t>
            </a:r>
          </a:p>
        </p:txBody>
      </p:sp>
      <p:sp>
        <p:nvSpPr>
          <p:cNvPr id="100018" name="B3"/>
          <p:cNvSpPr/>
          <p:nvPr/>
        </p:nvSpPr>
        <p:spPr>
          <a:xfrm xmlns:a="http://schemas.openxmlformats.org/drawingml/2006/main">
            <a:off x="5309280" y="2124000"/>
            <a:ext cx="1826640" cy="10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E3A5C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9" name="TextBox 11"/>
          <p:cNvSpPr txBox="1"/>
          <p:nvPr/>
        </p:nvSpPr>
        <p:spPr>
          <a:xfrm xmlns:a="http://schemas.openxmlformats.org/drawingml/2006/main">
            <a:off x="5309280" y="2268000"/>
            <a:ext cx="182664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FFFFFF"/>
                </a:solidFill>
                <a:latin typeface="Consolas"/>
                <a:ea typeface="Microsoft YaHei"/>
              </a:rPr>
              <a:t>[WORKING]</a:t>
            </a:r>
          </a:p>
        </p:txBody>
      </p:sp>
      <p:sp>
        <p:nvSpPr>
          <p:cNvPr id="100020" name="TextBox 12"/>
          <p:cNvSpPr txBox="1"/>
          <p:nvPr/>
        </p:nvSpPr>
        <p:spPr>
          <a:xfrm xmlns:a="http://schemas.openxmlformats.org/drawingml/2006/main">
            <a:off x="5201280" y="2682000"/>
            <a:ext cx="204264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C9DCE8"/>
                </a:solidFill>
                <a:latin typeface="Calibri"/>
                <a:ea typeface="Microsoft YaHei"/>
              </a:rPr>
              <a:t>开发、自测、评审</a:t>
            </a:r>
          </a:p>
        </p:txBody>
      </p:sp>
      <p:sp>
        <p:nvSpPr>
          <p:cNvPr id="100021" name="B4"/>
          <p:cNvSpPr/>
          <p:nvPr/>
        </p:nvSpPr>
        <p:spPr>
          <a:xfrm xmlns:a="http://schemas.openxmlformats.org/drawingml/2006/main">
            <a:off x="7567920" y="2124000"/>
            <a:ext cx="1826640" cy="10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2" name="TextBox 14"/>
          <p:cNvSpPr txBox="1"/>
          <p:nvPr/>
        </p:nvSpPr>
        <p:spPr>
          <a:xfrm xmlns:a="http://schemas.openxmlformats.org/drawingml/2006/main">
            <a:off x="7567920" y="2268000"/>
            <a:ext cx="182664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6322A"/>
                </a:solidFill>
                <a:latin typeface="Consolas"/>
                <a:ea typeface="Microsoft YaHei"/>
              </a:rPr>
              <a:t>[FINISHED]</a:t>
            </a:r>
          </a:p>
        </p:txBody>
      </p:sp>
      <p:sp>
        <p:nvSpPr>
          <p:cNvPr id="100023" name="TextBox 15"/>
          <p:cNvSpPr txBox="1"/>
          <p:nvPr/>
        </p:nvSpPr>
        <p:spPr>
          <a:xfrm xmlns:a="http://schemas.openxmlformats.org/drawingml/2006/main">
            <a:off x="7567920" y="2682000"/>
            <a:ext cx="182664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06322A"/>
                </a:solidFill>
                <a:latin typeface="Calibri"/>
                <a:ea typeface="Microsoft YaHei"/>
              </a:rPr>
              <a:t>PR / MR 已提交</a:t>
            </a:r>
          </a:p>
        </p:txBody>
      </p:sp>
      <p:sp>
        <p:nvSpPr>
          <p:cNvPr id="100024" name="B5"/>
          <p:cNvSpPr/>
          <p:nvPr/>
        </p:nvSpPr>
        <p:spPr>
          <a:xfrm xmlns:a="http://schemas.openxmlformats.org/drawingml/2006/main">
            <a:off x="9826560" y="2124000"/>
            <a:ext cx="1826640" cy="104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0E3A5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5" name="TextBox 17"/>
          <p:cNvSpPr txBox="1"/>
          <p:nvPr/>
        </p:nvSpPr>
        <p:spPr>
          <a:xfrm xmlns:a="http://schemas.openxmlformats.org/drawingml/2006/main">
            <a:off x="9826560" y="2268000"/>
            <a:ext cx="182664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E3A5C"/>
                </a:solidFill>
                <a:latin typeface="Consolas"/>
                <a:ea typeface="Microsoft YaHei"/>
              </a:rPr>
              <a:t>人工</a:t>
            </a:r>
          </a:p>
        </p:txBody>
      </p:sp>
      <p:sp>
        <p:nvSpPr>
          <p:cNvPr id="100026" name="TextBox 18"/>
          <p:cNvSpPr txBox="1"/>
          <p:nvPr/>
        </p:nvSpPr>
        <p:spPr>
          <a:xfrm xmlns:a="http://schemas.openxmlformats.org/drawingml/2006/main">
            <a:off x="9826560" y="2682000"/>
            <a:ext cx="182664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4E6E88"/>
                </a:solidFill>
                <a:latin typeface="Calibri"/>
                <a:ea typeface="Microsoft YaHei"/>
              </a:rPr>
              <a:t>评审、合并、关闭</a:t>
            </a:r>
          </a:p>
        </p:txBody>
      </p:sp>
      <p:sp>
        <p:nvSpPr>
          <p:cNvPr id="100027" name="BP"/>
          <p:cNvSpPr/>
          <p:nvPr/>
        </p:nvSpPr>
        <p:spPr>
          <a:xfrm xmlns:a="http://schemas.openxmlformats.org/drawingml/2006/main">
            <a:off x="5309280" y="3960000"/>
            <a:ext cx="1826640" cy="86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3F7"/>
          </a:solidFill>
          <a:ln xmlns:a="http://schemas.openxmlformats.org/drawingml/2006/main" w="15875">
            <a:solidFill>
              <a:srgbClr val="1C729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8" name="TextBox 20"/>
          <p:cNvSpPr txBox="1"/>
          <p:nvPr/>
        </p:nvSpPr>
        <p:spPr>
          <a:xfrm xmlns:a="http://schemas.openxmlformats.org/drawingml/2006/main">
            <a:off x="5309280" y="4050000"/>
            <a:ext cx="182664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800" b="1">
                <a:solidFill>
                  <a:srgbClr val="0E3A5C"/>
                </a:solidFill>
                <a:latin typeface="Consolas"/>
                <a:ea typeface="Microsoft YaHei"/>
              </a:rPr>
              <a:t>[PAUSED]</a:t>
            </a:r>
          </a:p>
        </p:txBody>
      </p:sp>
      <p:sp>
        <p:nvSpPr>
          <p:cNvPr id="100029" name="TextBox 21"/>
          <p:cNvSpPr txBox="1"/>
          <p:nvPr/>
        </p:nvSpPr>
        <p:spPr>
          <a:xfrm xmlns:a="http://schemas.openxmlformats.org/drawingml/2006/main">
            <a:off x="5309280" y="4446000"/>
            <a:ext cx="182664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4E6E88"/>
                </a:solidFill>
                <a:latin typeface="Calibri"/>
                <a:ea typeface="Microsoft YaHei"/>
              </a:rPr>
              <a:t>在等一个人回话</a:t>
            </a:r>
          </a:p>
        </p:txBody>
      </p:sp>
      <p:sp>
        <p:nvSpPr>
          <p:cNvPr id="100030" name="AskNote"/>
          <p:cNvSpPr txBox="1"/>
          <p:nvPr/>
        </p:nvSpPr>
        <p:spPr>
          <a:xfrm xmlns:a="http://schemas.openxmlformats.org/drawingml/2006/main">
            <a:off x="7416000" y="3924000"/>
            <a:ext cx="4212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Microsoft YaHei"/>
              </a:rPr>
              <a:t>只有人能拍板的问题会写回 issue，也可以推到钉钉群；答案回到 issue 上，下一轮从原来的上下文接着跑。</a:t>
            </a:r>
          </a:p>
        </p:txBody>
      </p:sp>
      <p:sp>
        <p:nvSpPr>
          <p:cNvPr id="100031" name="SkipNote"/>
          <p:cNvSpPr txBox="1"/>
          <p:nvPr/>
        </p:nvSpPr>
        <p:spPr>
          <a:xfrm xmlns:a="http://schemas.openxmlformats.org/drawingml/2006/main">
            <a:off x="792000" y="3924000"/>
            <a:ext cx="4212000" cy="108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E6E88"/>
                </a:solidFill>
                <a:latin typeface="Consolas"/>
                <a:ea typeface="Microsoft YaHei"/>
              </a:rPr>
              <a:t>另有 [SKIP]：确认这个 issue 不需要改代码时才走，而且必须写明理由。</a:t>
            </a:r>
          </a:p>
        </p:txBody>
      </p:sp>
      <p:cxnSp>
        <p:nvCxnSpPr>
          <p:cNvPr id="100032" name="Connector 1"/>
          <p:cNvCxnSpPr>
            <a:stCxn xmlns:a="http://schemas.openxmlformats.org/drawingml/2006/main" id="100012" idx="0"/>
            <a:endCxn xmlns:a="http://schemas.openxmlformats.org/drawingml/2006/main" id="100015" idx="0"/>
          </p:cNvCxnSpPr>
          <p:nvPr/>
        </p:nvCxnSpPr>
        <p:spPr>
          <a:xfrm xmlns:a="http://schemas.openxmlformats.org/drawingml/2006/main">
            <a:off x="2618640" y="2646000"/>
            <a:ext cx="43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8FAA"/>
            </a:solidFill>
            <a:tailEnd type="triangle"/>
          </a:ln>
        </p:spPr>
      </p:cxnSp>
      <p:cxnSp>
        <p:nvCxnSpPr>
          <p:cNvPr id="100033" name="Connector 2"/>
          <p:cNvCxnSpPr>
            <a:stCxn xmlns:a="http://schemas.openxmlformats.org/drawingml/2006/main" id="100015" idx="0"/>
            <a:endCxn xmlns:a="http://schemas.openxmlformats.org/drawingml/2006/main" id="100018" idx="0"/>
          </p:cNvCxnSpPr>
          <p:nvPr/>
        </p:nvCxnSpPr>
        <p:spPr>
          <a:xfrm xmlns:a="http://schemas.openxmlformats.org/drawingml/2006/main">
            <a:off x="4877280" y="2646000"/>
            <a:ext cx="43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8FAA"/>
            </a:solidFill>
            <a:tailEnd type="triangle"/>
          </a:ln>
        </p:spPr>
      </p:cxnSp>
      <p:cxnSp>
        <p:nvCxnSpPr>
          <p:cNvPr id="100034" name="Connector 3"/>
          <p:cNvCxnSpPr>
            <a:stCxn xmlns:a="http://schemas.openxmlformats.org/drawingml/2006/main" id="100018" idx="0"/>
            <a:endCxn xmlns:a="http://schemas.openxmlformats.org/drawingml/2006/main" id="100021" idx="0"/>
          </p:cNvCxnSpPr>
          <p:nvPr/>
        </p:nvCxnSpPr>
        <p:spPr>
          <a:xfrm xmlns:a="http://schemas.openxmlformats.org/drawingml/2006/main">
            <a:off x="7135920" y="2646000"/>
            <a:ext cx="43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8FAA"/>
            </a:solidFill>
            <a:tailEnd type="triangle"/>
          </a:ln>
        </p:spPr>
      </p:cxnSp>
      <p:cxnSp>
        <p:nvCxnSpPr>
          <p:cNvPr id="100035" name="Connector 4"/>
          <p:cNvCxnSpPr>
            <a:stCxn xmlns:a="http://schemas.openxmlformats.org/drawingml/2006/main" id="100021" idx="0"/>
            <a:endCxn xmlns:a="http://schemas.openxmlformats.org/drawingml/2006/main" id="100024" idx="0"/>
          </p:cNvCxnSpPr>
          <p:nvPr/>
        </p:nvCxnSpPr>
        <p:spPr>
          <a:xfrm xmlns:a="http://schemas.openxmlformats.org/drawingml/2006/main">
            <a:off x="9394560" y="2646000"/>
            <a:ext cx="43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B8FAA"/>
            </a:solidFill>
            <a:tailEnd type="triangle"/>
          </a:ln>
        </p:spPr>
      </p:cxnSp>
      <p:cxnSp>
        <p:nvCxnSpPr>
          <p:cNvPr id="100036" name="Connector 5"/>
          <p:cNvCxnSpPr>
            <a:stCxn xmlns:a="http://schemas.openxmlformats.org/drawingml/2006/main" id="100018" idx="0"/>
            <a:endCxn xmlns:a="http://schemas.openxmlformats.org/drawingml/2006/main" id="100027" idx="0"/>
          </p:cNvCxnSpPr>
          <p:nvPr/>
        </p:nvCxnSpPr>
        <p:spPr>
          <a:xfrm xmlns:a="http://schemas.openxmlformats.org/drawingml/2006/main">
            <a:off x="6222600" y="3168000"/>
            <a:ext cx="0" cy="792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C7293"/>
            </a:solidFill>
            <a:headEnd type="triangle"/>
            <a:tailEnd type="triangle"/>
          </a:ln>
        </p:spPr>
      </p:cxnSp>
      <p:sp>
        <p:nvSpPr>
          <p:cNvPr id="100058" name="TextBox 25"/>
          <p:cNvSpPr/>
          <p:nvPr/>
        </p:nvSpPr>
        <p:spPr>
          <a:xfrm xmlns:a="http://schemas.openxmlformats.org/drawingml/2006/main">
            <a:off x="1044000" y="5544000"/>
            <a:ext cx="93600" cy="9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9" name="TextBox 26"/>
          <p:cNvSpPr txBox="1"/>
          <p:nvPr/>
        </p:nvSpPr>
        <p:spPr>
          <a:xfrm xmlns:a="http://schemas.openxmlformats.org/drawingml/2006/main">
            <a:off x="1242000" y="5472000"/>
            <a:ext cx="30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Microsoft YaHei"/>
              </a:rPr>
              <a:t>每个 issue 独占一个 worktree</a:t>
            </a:r>
          </a:p>
        </p:txBody>
      </p:sp>
      <p:sp>
        <p:nvSpPr>
          <p:cNvPr id="100060" name="TextBox 27"/>
          <p:cNvSpPr/>
          <p:nvPr/>
        </p:nvSpPr>
        <p:spPr>
          <a:xfrm xmlns:a="http://schemas.openxmlformats.org/drawingml/2006/main">
            <a:off x="4593600" y="5544000"/>
            <a:ext cx="93600" cy="9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1" name="TextBox 28"/>
          <p:cNvSpPr txBox="1"/>
          <p:nvPr/>
        </p:nvSpPr>
        <p:spPr>
          <a:xfrm xmlns:a="http://schemas.openxmlformats.org/drawingml/2006/main">
            <a:off x="4791600" y="5472000"/>
            <a:ext cx="30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Microsoft YaHei"/>
              </a:rPr>
              <a:t>每一步的进度都写成 issue 评论，人随时能接管</a:t>
            </a:r>
          </a:p>
        </p:txBody>
      </p:sp>
      <p:sp>
        <p:nvSpPr>
          <p:cNvPr id="100062" name="TextBox 29"/>
          <p:cNvSpPr/>
          <p:nvPr/>
        </p:nvSpPr>
        <p:spPr>
          <a:xfrm xmlns:a="http://schemas.openxmlformats.org/drawingml/2006/main">
            <a:off x="8143200" y="5544000"/>
            <a:ext cx="93600" cy="9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63" name="TextBox 30"/>
          <p:cNvSpPr txBox="1"/>
          <p:nvPr/>
        </p:nvSpPr>
        <p:spPr>
          <a:xfrm xmlns:a="http://schemas.openxmlformats.org/drawingml/2006/main">
            <a:off x="8341200" y="5472000"/>
            <a:ext cx="306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Microsoft YaHei"/>
              </a:rPr>
              <a:t>提交前先跑这个仓库自己的 verify_command</a:t>
            </a:r>
          </a:p>
        </p:txBody>
      </p:sp>
      <p:sp>
        <p:nvSpPr>
          <p:cNvPr id="100009" name="Band"/>
          <p:cNvSpPr/>
          <p:nvPr/>
        </p:nvSpPr>
        <p:spPr>
          <a:xfrm xmlns:a="http://schemas.openxmlformats.org/drawingml/2006/main">
            <a:off x="0" y="0"/>
            <a:ext cx="19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37" name="Band"/>
          <p:cNvSpPr/>
          <p:nvPr/>
        </p:nvSpPr>
        <p:spPr>
          <a:xfrm xmlns:a="http://schemas.openxmlformats.org/drawingml/2006/main">
            <a:off x="0" y="0"/>
            <a:ext cx="19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C39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8" name="Title"/>
          <p:cNvSpPr txBox="1"/>
          <p:nvPr/>
        </p:nvSpPr>
        <p:spPr>
          <a:xfrm xmlns:a="http://schemas.openxmlformats.org/drawingml/2006/main">
            <a:off x="792000" y="504000"/>
            <a:ext cx="10440000" cy="75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0E3A5C"/>
                </a:solidFill>
                <a:latin typeface="Consolas"/>
                <a:ea typeface="Microsoft YaHei"/>
              </a:rPr>
              <a:t>上手路径与安全边界</a:t>
            </a:r>
          </a:p>
        </p:txBody>
      </p:sp>
      <p:sp>
        <p:nvSpPr>
          <p:cNvPr id="100039" name="Sub"/>
          <p:cNvSpPr txBox="1"/>
          <p:nvPr/>
        </p:nvSpPr>
        <p:spPr>
          <a:xfrm xmlns:a="http://schemas.openxmlformats.org/drawingml/2006/main">
            <a:off x="792000" y="1296000"/>
            <a:ext cx="1062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4E6E88"/>
                </a:solidFill>
                <a:latin typeface="Calibri"/>
                <a:ea typeface="Microsoft YaHei"/>
              </a:rPr>
              <a:t>装好插件，跑一次 init，再填两个没人能替你猜的值：assignee 与 verify_command。</a:t>
            </a:r>
          </a:p>
        </p:txBody>
      </p:sp>
      <p:sp>
        <p:nvSpPr>
          <p:cNvPr id="100040" name="Install"/>
          <p:cNvSpPr/>
          <p:nvPr/>
        </p:nvSpPr>
        <p:spPr>
          <a:xfrm xmlns:a="http://schemas.openxmlformats.org/drawingml/2006/main">
            <a:off x="792000" y="1782000"/>
            <a:ext cx="10861200" cy="4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8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300">
                <a:solidFill>
                  <a:srgbClr val="0E3A5C"/>
                </a:solidFill>
                <a:latin typeface="Consolas"/>
                <a:ea typeface="Microsoft YaHei"/>
              </a:rPr>
              <a:t>/plugin marketplace add memorylake-ai/loop-on-issue   |   /plugin install loop-on-issue@loop-on-issue</a:t>
            </a:r>
          </a:p>
        </p:txBody>
      </p:sp>
      <p:sp>
        <p:nvSpPr>
          <p:cNvPr id="100041" name="TextBox 5"/>
          <p:cNvSpPr/>
          <p:nvPr/>
        </p:nvSpPr>
        <p:spPr>
          <a:xfrm xmlns:a="http://schemas.openxmlformats.org/drawingml/2006/main">
            <a:off x="792000" y="2520000"/>
            <a:ext cx="3456000" cy="39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E5C7A"/>
                </a:solidFill>
                <a:latin typeface="Consolas"/>
                <a:ea typeface="Microsoft YaHei"/>
              </a:rPr>
              <a:t>/loop-on-issue:status</a:t>
            </a:r>
          </a:p>
        </p:txBody>
      </p:sp>
      <p:sp>
        <p:nvSpPr>
          <p:cNvPr id="100042" name="TextBox 6"/>
          <p:cNvSpPr txBox="1"/>
          <p:nvPr/>
        </p:nvSpPr>
        <p:spPr>
          <a:xfrm xmlns:a="http://schemas.openxmlformats.org/drawingml/2006/main">
            <a:off x="4536000" y="2520000"/>
            <a:ext cx="7117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Microsoft YaHei"/>
              </a:rPr>
              <a:t>这台机器和这个仓库还缺什么，逐项报出来</a:t>
            </a:r>
          </a:p>
        </p:txBody>
      </p:sp>
      <p:sp>
        <p:nvSpPr>
          <p:cNvPr id="100043" name="TextBox 7"/>
          <p:cNvSpPr/>
          <p:nvPr/>
        </p:nvSpPr>
        <p:spPr>
          <a:xfrm xmlns:a="http://schemas.openxmlformats.org/drawingml/2006/main">
            <a:off x="792000" y="3024000"/>
            <a:ext cx="3456000" cy="39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E5C7A"/>
                </a:solidFill>
                <a:latin typeface="Consolas"/>
                <a:ea typeface="Microsoft YaHei"/>
              </a:rPr>
              <a:t>/loop-on-issue:init</a:t>
            </a:r>
          </a:p>
        </p:txBody>
      </p:sp>
      <p:sp>
        <p:nvSpPr>
          <p:cNvPr id="100044" name="TextBox 8"/>
          <p:cNvSpPr txBox="1"/>
          <p:nvPr/>
        </p:nvSpPr>
        <p:spPr>
          <a:xfrm xmlns:a="http://schemas.openxmlformats.org/drawingml/2006/main">
            <a:off x="4536000" y="3024000"/>
            <a:ext cx="7117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Microsoft YaHei"/>
              </a:rPr>
              <a:t>写配置、issue 与 PR 模板、建好队列标签</a:t>
            </a:r>
          </a:p>
        </p:txBody>
      </p:sp>
      <p:sp>
        <p:nvSpPr>
          <p:cNvPr id="100045" name="TextBox 9"/>
          <p:cNvSpPr/>
          <p:nvPr/>
        </p:nvSpPr>
        <p:spPr>
          <a:xfrm xmlns:a="http://schemas.openxmlformats.org/drawingml/2006/main">
            <a:off x="792000" y="3528000"/>
            <a:ext cx="3456000" cy="39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E5C7A"/>
                </a:solidFill>
                <a:latin typeface="Consolas"/>
                <a:ea typeface="Microsoft YaHei"/>
              </a:rPr>
              <a:t>/loop-on-issue:issues</a:t>
            </a:r>
          </a:p>
        </p:txBody>
      </p:sp>
      <p:sp>
        <p:nvSpPr>
          <p:cNvPr id="100046" name="TextBox 10"/>
          <p:cNvSpPr txBox="1"/>
          <p:nvPr/>
        </p:nvSpPr>
        <p:spPr>
          <a:xfrm xmlns:a="http://schemas.openxmlformats.org/drawingml/2006/main">
            <a:off x="4536000" y="3528000"/>
            <a:ext cx="7117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Microsoft YaHei"/>
              </a:rPr>
              <a:t>把一个需求拆成能直接开工的 issue</a:t>
            </a:r>
          </a:p>
        </p:txBody>
      </p:sp>
      <p:sp>
        <p:nvSpPr>
          <p:cNvPr id="100047" name="TextBox 11"/>
          <p:cNvSpPr/>
          <p:nvPr/>
        </p:nvSpPr>
        <p:spPr>
          <a:xfrm xmlns:a="http://schemas.openxmlformats.org/drawingml/2006/main">
            <a:off x="792000" y="4032000"/>
            <a:ext cx="3456000" cy="39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E5C7A"/>
                </a:solidFill>
                <a:latin typeface="Consolas"/>
                <a:ea typeface="Microsoft YaHei"/>
              </a:rPr>
              <a:t>/loop-on-issue:swarm</a:t>
            </a:r>
          </a:p>
        </p:txBody>
      </p:sp>
      <p:sp>
        <p:nvSpPr>
          <p:cNvPr id="100048" name="TextBox 12"/>
          <p:cNvSpPr txBox="1"/>
          <p:nvPr/>
        </p:nvSpPr>
        <p:spPr>
          <a:xfrm xmlns:a="http://schemas.openxmlformats.org/drawingml/2006/main">
            <a:off x="4536000" y="4032000"/>
            <a:ext cx="7117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Microsoft YaHei"/>
              </a:rPr>
              <a:t>跑一轮队列：认领、开发、自测、提交</a:t>
            </a:r>
          </a:p>
        </p:txBody>
      </p:sp>
      <p:sp>
        <p:nvSpPr>
          <p:cNvPr id="100049" name="TextBox 13"/>
          <p:cNvSpPr/>
          <p:nvPr/>
        </p:nvSpPr>
        <p:spPr>
          <a:xfrm xmlns:a="http://schemas.openxmlformats.org/drawingml/2006/main">
            <a:off x="792000" y="4536000"/>
            <a:ext cx="3456000" cy="39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7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0E5C7A"/>
                </a:solidFill>
                <a:latin typeface="Consolas"/>
                <a:ea typeface="Microsoft YaHei"/>
              </a:rPr>
              <a:t>/loop-on-issue:mr</a:t>
            </a:r>
          </a:p>
        </p:txBody>
      </p:sp>
      <p:sp>
        <p:nvSpPr>
          <p:cNvPr id="100050" name="TextBox 14"/>
          <p:cNvSpPr txBox="1"/>
          <p:nvPr/>
        </p:nvSpPr>
        <p:spPr>
          <a:xfrm xmlns:a="http://schemas.openxmlformats.org/drawingml/2006/main">
            <a:off x="4536000" y="4536000"/>
            <a:ext cx="71172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2B3A4E"/>
                </a:solidFill>
                <a:latin typeface="Calibri"/>
                <a:ea typeface="Microsoft YaHei"/>
              </a:rPr>
              <a:t>把手上这个分支送到已提交的 PR / MR</a:t>
            </a:r>
          </a:p>
        </p:txBody>
      </p:sp>
      <p:sp>
        <p:nvSpPr>
          <p:cNvPr id="100051" name="Guard"/>
          <p:cNvSpPr/>
          <p:nvPr/>
        </p:nvSpPr>
        <p:spPr>
          <a:xfrm xmlns:a="http://schemas.openxmlformats.org/drawingml/2006/main">
            <a:off x="792000" y="5220000"/>
            <a:ext cx="10861200" cy="11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23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52" name="TextBox 16"/>
          <p:cNvSpPr txBox="1"/>
          <p:nvPr/>
        </p:nvSpPr>
        <p:spPr>
          <a:xfrm xmlns:a="http://schemas.openxmlformats.org/drawingml/2006/main">
            <a:off x="1044000" y="5562000"/>
            <a:ext cx="1512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1">
                <a:solidFill>
                  <a:srgbClr val="02C39A"/>
                </a:solidFill>
                <a:latin typeface="Consolas"/>
                <a:ea typeface="Microsoft YaHei"/>
              </a:rPr>
              <a:t>硬边界</a:t>
            </a:r>
          </a:p>
        </p:txBody>
      </p:sp>
      <p:sp>
        <p:nvSpPr>
          <p:cNvPr id="100053" name="TextBox 17"/>
          <p:cNvSpPr txBox="1"/>
          <p:nvPr/>
        </p:nvSpPr>
        <p:spPr>
          <a:xfrm xmlns:a="http://schemas.openxmlformats.org/drawingml/2006/main">
            <a:off x="2664000" y="5382000"/>
            <a:ext cx="4284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9DCE8"/>
                </a:solidFill>
                <a:latin typeface="Calibri"/>
                <a:ea typeface="Microsoft YaHei"/>
              </a:rPr>
              <a:t>从不合并变更请求，也从不关闭 issue</a:t>
            </a:r>
          </a:p>
        </p:txBody>
      </p:sp>
      <p:sp>
        <p:nvSpPr>
          <p:cNvPr id="100054" name="TextBox 18"/>
          <p:cNvSpPr txBox="1"/>
          <p:nvPr/>
        </p:nvSpPr>
        <p:spPr>
          <a:xfrm xmlns:a="http://schemas.openxmlformats.org/drawingml/2006/main">
            <a:off x="2664000" y="5778000"/>
            <a:ext cx="4284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9DCE8"/>
                </a:solidFill>
                <a:latin typeface="Calibri"/>
                <a:ea typeface="Microsoft YaHei"/>
              </a:rPr>
              <a:t>只碰过滤器内的 issue，不动别人前缀</a:t>
            </a:r>
          </a:p>
        </p:txBody>
      </p:sp>
      <p:sp>
        <p:nvSpPr>
          <p:cNvPr id="100055" name="TextBox 19"/>
          <p:cNvSpPr txBox="1"/>
          <p:nvPr/>
        </p:nvSpPr>
        <p:spPr>
          <a:xfrm xmlns:a="http://schemas.openxmlformats.org/drawingml/2006/main">
            <a:off x="7092000" y="5382000"/>
            <a:ext cx="43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9DCE8"/>
                </a:solidFill>
                <a:latin typeface="Calibri"/>
                <a:ea typeface="Microsoft YaHei"/>
              </a:rPr>
              <a:t>代码改动只发生在 worktree 目录里</a:t>
            </a:r>
          </a:p>
        </p:txBody>
      </p:sp>
      <p:sp>
        <p:nvSpPr>
          <p:cNvPr id="100056" name="TextBox 20"/>
          <p:cNvSpPr txBox="1"/>
          <p:nvPr/>
        </p:nvSpPr>
        <p:spPr>
          <a:xfrm xmlns:a="http://schemas.openxmlformats.org/drawingml/2006/main">
            <a:off x="7092000" y="5778000"/>
            <a:ext cx="4320000" cy="39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C9DCE8"/>
                </a:solidFill>
                <a:latin typeface="Calibri"/>
                <a:ea typeface="Microsoft YaHei"/>
              </a:rPr>
              <a:t>凭据在仓库之外，需求需审批人放行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2026-08-24T06:58:20Z</dcterms:created>
  <cp:lastModifiedBy>OfficeCLI</cp:lastModifiedBy>
  <dcterms:modified xsi:type="dcterms:W3CDTF">2026-08-24T06:58:20Z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2026-08-24T07:06:25Z</vt:lpwstr>
  </op:property>
</op:Properties>
</file>